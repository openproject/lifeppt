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920240" y="594360"/>
            <a:ext cx="8366760" cy="17830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48840" y="749808"/>
            <a:ext cx="79095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2663AA"/>
                </a:solidFill>
                <a:latin typeface="Microsoft YaHei"/>
              </a:rPr>
              <a:t>小学生手卫生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1508760"/>
            <a:ext cx="7543800" cy="3931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07658"/>
                </a:solidFill>
                <a:latin typeface="Microsoft YaHei"/>
              </a:rPr>
              <a:t>二年级健康科普课：和泡泡一起打败细菌小怪兽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5897880"/>
            <a:ext cx="2971800" cy="530352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90872" y="5971032"/>
            <a:ext cx="2825496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54B5F"/>
                </a:solidFill>
                <a:latin typeface="Microsoft YaHei"/>
              </a:rPr>
              <a:t>准备好了吗？伸出小手！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_busy_h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小手每天很忙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4747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3145536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写字、玩耍、摸门把手，小手到处帮忙。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看不见的小细菌，也可能悄悄搭便车。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别担心！学会洗手，小手就能变清爽。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5989320"/>
            <a:ext cx="3703320" cy="502920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6062472"/>
            <a:ext cx="3557015" cy="356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54B5F"/>
                </a:solidFill>
                <a:latin typeface="Microsoft YaHei"/>
              </a:rPr>
              <a:t>想一想：今天你的小手碰过什么？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_tiny_ge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细菌病毒在哪里？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794760" cy="2468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44168"/>
            <a:ext cx="3465576" cy="2304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它们很小很小，肉眼看不见。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喜欢躲在手指缝、指甲边和手心里。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有些会让我们肚子疼、咳嗽或发烧。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977639"/>
            <a:ext cx="3246120" cy="530352"/>
          </a:xfrm>
          <a:prstGeom prst="roundRect">
            <a:avLst/>
          </a:prstGeom>
          <a:solidFill>
            <a:srgbClr val="DCFAF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4050791"/>
            <a:ext cx="3099815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54B5F"/>
                </a:solidFill>
                <a:latin typeface="Microsoft YaHei"/>
              </a:rPr>
              <a:t>不是所有细菌都坏，但脏手要洗干净！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_health_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洗手像给身体加护盾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66160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7"/>
            <a:ext cx="3236976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洗掉灰尘、油油和脏东西。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减少细菌从手跑到口、眼、鼻。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800" b="0">
                <a:solidFill>
                  <a:srgbClr val="354B5F"/>
                </a:solidFill>
                <a:latin typeface="Microsoft YaHei"/>
              </a:rPr>
              <a:t>• 保护自己，也保护同学和家人。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58200" y="5806440"/>
            <a:ext cx="3063240" cy="566928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1352" y="5879592"/>
            <a:ext cx="291693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354B5F"/>
                </a:solidFill>
                <a:latin typeface="Microsoft YaHei"/>
              </a:rPr>
              <a:t>干净小手 = 健康加分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_when_to_w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这些时候一定要洗手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" y="1810512"/>
            <a:ext cx="1920240" cy="438912"/>
          </a:xfrm>
          <a:prstGeom prst="roundRect">
            <a:avLst/>
          </a:prstGeom>
          <a:solidFill>
            <a:srgbClr val="FFE6E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83664"/>
            <a:ext cx="17739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54B5F"/>
                </a:solidFill>
                <a:latin typeface="Microsoft YaHei"/>
              </a:rPr>
              <a:t>吃东西前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600200"/>
            <a:ext cx="1920240" cy="438912"/>
          </a:xfrm>
          <a:prstGeom prst="roundRect">
            <a:avLst/>
          </a:prstGeom>
          <a:solidFill>
            <a:srgbClr val="FFF5B5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9272" y="1673352"/>
            <a:ext cx="17739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54B5F"/>
                </a:solidFill>
                <a:latin typeface="Microsoft YaHei"/>
              </a:rPr>
              <a:t>上厕所后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600200"/>
            <a:ext cx="1920240" cy="438912"/>
          </a:xfrm>
          <a:prstGeom prst="roundRect">
            <a:avLst/>
          </a:prstGeom>
          <a:solidFill>
            <a:srgbClr val="FFDEB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08192" y="1673352"/>
            <a:ext cx="17739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54B5F"/>
                </a:solidFill>
                <a:latin typeface="Microsoft YaHei"/>
              </a:rPr>
              <a:t>咳嗽喷嚏后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7072" y="1965960"/>
            <a:ext cx="1920240" cy="438912"/>
          </a:xfrm>
          <a:prstGeom prst="roundRect">
            <a:avLst/>
          </a:prstGeom>
          <a:solidFill>
            <a:srgbClr val="DDF2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0224" y="2039112"/>
            <a:ext cx="17739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54B5F"/>
                </a:solidFill>
                <a:latin typeface="Microsoft YaHei"/>
              </a:rPr>
              <a:t>户外玩耍后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10512" y="5541264"/>
            <a:ext cx="1920240" cy="438912"/>
          </a:xfrm>
          <a:prstGeom prst="roundRect">
            <a:avLst/>
          </a:prstGeom>
          <a:solidFill>
            <a:srgbClr val="EBE2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83664" y="5614416"/>
            <a:ext cx="17739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54B5F"/>
                </a:solidFill>
                <a:latin typeface="Microsoft YaHei"/>
              </a:rPr>
              <a:t>摸宠物后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5577840"/>
            <a:ext cx="1920240" cy="438912"/>
          </a:xfrm>
          <a:prstGeom prst="roundRect">
            <a:avLst/>
          </a:prstGeom>
          <a:solidFill>
            <a:srgbClr val="DCFAE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44383" y="5650992"/>
            <a:ext cx="1773936" cy="29260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354B5F"/>
                </a:solidFill>
                <a:latin typeface="Microsoft YaHei"/>
              </a:rPr>
              <a:t>回家或进教室后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_seven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七步洗手法：小手面面俱到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234440"/>
            <a:ext cx="3246120" cy="41605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49640" y="1344168"/>
            <a:ext cx="2916936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54B5F"/>
                </a:solidFill>
                <a:latin typeface="Microsoft YaHei"/>
              </a:rPr>
              <a:t>• 1 掌心相对搓一搓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54B5F"/>
                </a:solidFill>
                <a:latin typeface="Microsoft YaHei"/>
              </a:rPr>
              <a:t>• 2 手背交叉搓一搓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54B5F"/>
                </a:solidFill>
                <a:latin typeface="Microsoft YaHei"/>
              </a:rPr>
              <a:t>• 3 手指交叉搓一搓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54B5F"/>
                </a:solidFill>
                <a:latin typeface="Microsoft YaHei"/>
              </a:rPr>
              <a:t>• 4 弯弯指背搓一搓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54B5F"/>
                </a:solidFill>
                <a:latin typeface="Microsoft YaHei"/>
              </a:rPr>
              <a:t>• 5 大拇指转一转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54B5F"/>
                </a:solidFill>
                <a:latin typeface="Microsoft YaHei"/>
              </a:rPr>
              <a:t>• 6 指尖掌心画圈圈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354B5F"/>
                </a:solidFill>
                <a:latin typeface="Microsoft YaHei"/>
              </a:rPr>
              <a:t>• 7 手腕也要洗干净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6309360"/>
            <a:ext cx="3794760" cy="384048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5112" y="6382512"/>
            <a:ext cx="3648456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54B5F"/>
                </a:solidFill>
                <a:latin typeface="Microsoft YaHei"/>
              </a:rPr>
              <a:t>每一步都搓到，细菌没处躲！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_20_seco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洗手小口诀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1874519" cy="749808"/>
          </a:xfrm>
          <a:prstGeom prst="roundRect">
            <a:avLst/>
          </a:prstGeom>
          <a:solidFill>
            <a:srgbClr val="DDF2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99032"/>
            <a:ext cx="17282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54B5F"/>
                </a:solidFill>
                <a:latin typeface="Microsoft YaHei"/>
              </a:rPr>
              <a:t>湿一湿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1874519" cy="749808"/>
          </a:xfrm>
          <a:prstGeom prst="roundRect">
            <a:avLst/>
          </a:prstGeom>
          <a:solidFill>
            <a:srgbClr val="EBE2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404872"/>
            <a:ext cx="17282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54B5F"/>
                </a:solidFill>
                <a:latin typeface="Microsoft YaHei"/>
              </a:rPr>
              <a:t>抹香皂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337560"/>
            <a:ext cx="1874519" cy="749808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3410712"/>
            <a:ext cx="17282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54B5F"/>
                </a:solidFill>
                <a:latin typeface="Microsoft YaHei"/>
              </a:rPr>
              <a:t>搓20秒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343400"/>
            <a:ext cx="1874519" cy="749808"/>
          </a:xfrm>
          <a:prstGeom prst="roundRect">
            <a:avLst/>
          </a:prstGeom>
          <a:solidFill>
            <a:srgbClr val="DCFAE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4416552"/>
            <a:ext cx="17282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54B5F"/>
                </a:solidFill>
                <a:latin typeface="Microsoft YaHei"/>
              </a:rPr>
              <a:t>冲干净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349240"/>
            <a:ext cx="1874519" cy="749808"/>
          </a:xfrm>
          <a:prstGeom prst="roundRect">
            <a:avLst/>
          </a:prstGeom>
          <a:solidFill>
            <a:srgbClr val="FFE6EC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5422392"/>
            <a:ext cx="17282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54B5F"/>
                </a:solidFill>
                <a:latin typeface="Microsoft YaHei"/>
              </a:rPr>
              <a:t>擦干手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417320"/>
            <a:ext cx="3154680" cy="2057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1527048"/>
            <a:ext cx="2825496" cy="1892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可以唱一遍生日歌。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手心、手背、指缝都要有泡泡。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擦干后，小手不再湿哒哒。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5349240"/>
            <a:ext cx="3520440" cy="566928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5422392"/>
            <a:ext cx="337413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54B5F"/>
                </a:solidFill>
                <a:latin typeface="Microsoft YaHei"/>
              </a:rPr>
              <a:t>20秒，让泡泡认真工作！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_science_exper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泡泡科学小实验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143000"/>
            <a:ext cx="3429000" cy="3246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252728"/>
            <a:ext cx="3099816" cy="3081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54B5F"/>
                </a:solidFill>
                <a:latin typeface="Microsoft YaHei"/>
              </a:rPr>
              <a:t>• 盘里倒清水，撒一点胡椒粉。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54B5F"/>
                </a:solidFill>
                <a:latin typeface="Microsoft YaHei"/>
              </a:rPr>
              <a:t>• 手指先碰清水，胡椒还在附近。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54B5F"/>
                </a:solidFill>
                <a:latin typeface="Microsoft YaHei"/>
              </a:rPr>
              <a:t>• 手指沾肥皂再碰，胡椒会散开。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354B5F"/>
                </a:solidFill>
                <a:latin typeface="Microsoft YaHei"/>
              </a:rPr>
              <a:t>• 在老师或家长陪同下做实验。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6053328"/>
            <a:ext cx="3794760" cy="530352"/>
          </a:xfrm>
          <a:prstGeom prst="roundRect">
            <a:avLst/>
          </a:prstGeom>
          <a:solidFill>
            <a:srgbClr val="DCFAF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79392" y="6126480"/>
            <a:ext cx="3648456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354B5F"/>
                </a:solidFill>
                <a:latin typeface="Microsoft YaHei"/>
              </a:rPr>
              <a:t>肥皂能帮水带走油油和脏东西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_cough_etiqu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打喷嚏也要讲卫生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3063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7"/>
            <a:ext cx="3191256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用纸巾或手肘挡住口鼻。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用过的纸巾丢进垃圾桶。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咳嗽、打喷嚏后要洗手。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别用脏手揉眼睛、抠鼻子。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5897880"/>
            <a:ext cx="3520440" cy="548640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9831" y="5971032"/>
            <a:ext cx="3374136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54B5F"/>
                </a:solidFill>
                <a:latin typeface="Microsoft YaHei"/>
              </a:rPr>
              <a:t>礼貌一挡，细菌少飞翔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_clean_hab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让小手保持干净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29000" cy="28803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44168"/>
            <a:ext cx="3099816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勤剪指甲，别把脏东西藏起来。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不咬手指，不用手乱摸脸。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小伤口贴创可贴，保持干净。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354B5F"/>
                </a:solidFill>
                <a:latin typeface="Microsoft YaHei"/>
              </a:rPr>
              <a:t>• 毛巾、水杯等个人物品不混用。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5989320"/>
            <a:ext cx="3703320" cy="530352"/>
          </a:xfrm>
          <a:prstGeom prst="roundRect">
            <a:avLst/>
          </a:prstGeom>
          <a:solidFill>
            <a:srgbClr val="DCFAE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88352" y="6062472"/>
            <a:ext cx="3557015" cy="384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>
                <a:solidFill>
                  <a:srgbClr val="354B5F"/>
                </a:solidFill>
                <a:latin typeface="Microsoft YaHei"/>
              </a:rPr>
              <a:t>干净小习惯，每天都能做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_school_detec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校园洗手小侦探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0" y="1051560"/>
            <a:ext cx="29718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41080" y="1161288"/>
            <a:ext cx="264261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54B5F"/>
                </a:solidFill>
                <a:latin typeface="Microsoft YaHei"/>
              </a:rPr>
              <a:t>• 找一找：学校里哪里可以洗手？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354B5F"/>
                </a:solidFill>
                <a:latin typeface="Microsoft YaHei"/>
              </a:rPr>
              <a:t>• 记一记：今天抓住几个洗手机会？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5669280"/>
            <a:ext cx="2606040" cy="548640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42832" y="5742432"/>
            <a:ext cx="2459736" cy="4023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354B5F"/>
                </a:solidFill>
                <a:latin typeface="Microsoft YaHei"/>
              </a:rPr>
              <a:t>完成一次，给自己一颗星！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6355080"/>
            <a:ext cx="4160520" cy="320040"/>
          </a:xfrm>
          <a:prstGeom prst="roundRect">
            <a:avLst/>
          </a:prstGeom>
          <a:solidFill>
            <a:srgbClr val="DDF2FF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7672" y="6428232"/>
            <a:ext cx="4014215" cy="17373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54B5F"/>
                </a:solidFill>
                <a:latin typeface="Microsoft YaHei"/>
              </a:rPr>
              <a:t>课堂互动：做一名“洗手提醒员”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_p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11480" y="256032"/>
            <a:ext cx="11384280" cy="804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20040"/>
            <a:ext cx="108813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2663AA"/>
                </a:solidFill>
                <a:latin typeface="Microsoft YaHei"/>
              </a:rPr>
              <a:t>我是手卫生小英雄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57400" y="1143000"/>
            <a:ext cx="809244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C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331720" y="1298448"/>
            <a:ext cx="75438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07658"/>
                </a:solidFill>
                <a:latin typeface="Microsoft YaHei"/>
              </a:rPr>
              <a:t>我承诺：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764792"/>
            <a:ext cx="736092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2663AA"/>
                </a:solidFill>
                <a:latin typeface="Microsoft YaHei"/>
              </a:rPr>
              <a:t>吃前便后洗手，搓够20秒，提醒伙伴一起做！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5989320"/>
            <a:ext cx="4572000" cy="566928"/>
          </a:xfrm>
          <a:prstGeom prst="roundRect">
            <a:avLst/>
          </a:prstGeom>
          <a:solidFill>
            <a:srgbClr val="FFF297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2" y="6062472"/>
            <a:ext cx="4425696" cy="42062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354B5F"/>
                </a:solidFill>
                <a:latin typeface="Microsoft YaHei"/>
              </a:rPr>
              <a:t>小手干净，健康同行！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27080" y="6446520"/>
            <a:ext cx="777240" cy="25603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18520" y="6473952"/>
            <a:ext cx="5943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2663AA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